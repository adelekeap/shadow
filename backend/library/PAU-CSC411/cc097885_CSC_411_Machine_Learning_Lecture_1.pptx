
<file path=[Content_Types].xml><?xml version="1.0" encoding="utf-8"?>
<Types xmlns="http://schemas.openxmlformats.org/package/2006/content-types"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F1D5F4D-AE42-4E6A-AED7-E48F1CA9DB8A}">
  <a:tblStyle styleId="{3F1D5F4D-AE42-4E6A-AED7-E48F1CA9DB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b9fd514d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cb9fd514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cb9fd514d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cb9fd514d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cb9fd514d1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cb9fd514d1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b9fd514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cb9fd514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cb9fd514d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cb9fd514d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b9fd514d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b9fd514d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cb9fd514d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cb9fd514d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cb9fd514d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cb9fd514d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cb9fd514d1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cb9fd514d1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b9fd514d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b9fd514d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b9fd514d1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cb9fd514d1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cb9fd514d1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cb9fd514d1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b9fd514d1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b9fd514d1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b9fd514d1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b9fd514d1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b9fd514d1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b9fd514d1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b9fd514d1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b9fd514d1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b9fd514d1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cb9fd514d1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b9fd514d1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b9fd514d1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b9fd514d1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b9fd514d1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b9fd514d1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b9fd514d1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cb9fd514d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cb9fd514d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cb9fd514d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cb9fd514d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cb9fd514d1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cb9fd514d1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b9fd514d1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cb9fd514d1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g3cb9fd514d1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0" name="Google Shape;270;g3cb9fd514d1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b9fd514d1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cb9fd514d1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cb9fd514d1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cb9fd514d1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cbcbf3f1b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cbcbf3f1b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bcbf3f1b4_0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cbcbf3f1b4_0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cbcbf3f1b4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cbcbf3f1b4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cbcbf3f1b4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9" name="Google Shape;339;g3cbcbf3f1b4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bcbf3f1b4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bcbf3f1b4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cbcbf3f1b4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2" name="Google Shape;362;g3cbcbf3f1b4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cb9fd514d1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cb9fd514d1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3cbcbf3f1b4_0_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3cbcbf3f1b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cbcbf3f1b4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cbcbf3f1b4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cbcbf3f1b4_0_2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1" name="Google Shape;411;g3cbcbf3f1b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3cbcbf3f1b4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3cbcbf3f1b4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g3cbcbf3f1b4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7" name="Google Shape;437;g3cbcbf3f1b4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g3cbcbf3f1b4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8" name="Google Shape;448;g3cbcbf3f1b4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cbcbf3f1b4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cbcbf3f1b4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3cbcbf3f1b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3cbcbf3f1b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cbcbf3f1b4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cbcbf3f1b4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cbcbf3f1b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cbcbf3f1b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cbcbf3f1b4_0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1" name="Google Shape;491;g3cbcbf3f1b4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cbcbf3f1b4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cbcbf3f1b4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3cbcbf3f1b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0" name="Google Shape;510;g3cbcbf3f1b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cbcbf3f1b4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3cbcbf3f1b4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3cbcbf3f1b4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3cbcbf3f1b4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3cbcbf3f1b4_0_3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3cbcbf3f1b4_0_3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cbcbf3f1b4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cbcbf3f1b4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cbcbf3f1b4_0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cbcbf3f1b4_0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github.com/bumie-e/Final-Year-1st-semester-ML-Course/tree/main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bumie-e/Final-Year-1st-semester-ML-Course/tree/main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gif"/><Relationship Id="rId4" Type="http://schemas.openxmlformats.org/officeDocument/2006/relationships/image" Target="../media/image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5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gif"/><Relationship Id="rId4" Type="http://schemas.openxmlformats.org/officeDocument/2006/relationships/image" Target="../media/image17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gif"/><Relationship Id="rId4" Type="http://schemas.openxmlformats.org/officeDocument/2006/relationships/image" Target="../media/image17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4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8.png"/><Relationship Id="rId4" Type="http://schemas.openxmlformats.org/officeDocument/2006/relationships/image" Target="../media/image1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349150"/>
            <a:ext cx="8520600" cy="1733400"/>
          </a:xfrm>
          <a:prstGeom prst="rect">
            <a:avLst/>
          </a:prstGeom>
          <a:solidFill>
            <a:srgbClr val="93C47D"/>
          </a:solidFill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000">
                <a:latin typeface="Verdana"/>
                <a:ea typeface="Verdana"/>
                <a:cs typeface="Verdana"/>
                <a:sym typeface="Verdana"/>
              </a:rPr>
              <a:t>CSC 411: Machine Learning</a:t>
            </a:r>
            <a:endParaRPr sz="40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175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Lecture 01: Introduction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1433400" y="3194350"/>
            <a:ext cx="6277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Bunmi Akinremi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Pan Atlantic University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3rd March, 2026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219175" y="424825"/>
            <a:ext cx="88473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What we will cover today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2" name="Google Shape;62;p14"/>
          <p:cNvSpPr txBox="1"/>
          <p:nvPr/>
        </p:nvSpPr>
        <p:spPr>
          <a:xfrm>
            <a:off x="346000" y="1519150"/>
            <a:ext cx="80814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❏"/>
            </a:pPr>
            <a:r>
              <a:rPr lang="en-GB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Course administration details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Char char="❏"/>
            </a:pPr>
            <a:r>
              <a:rPr lang="en-GB" sz="18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you should learn ML</a:t>
            </a:r>
            <a:endParaRPr sz="18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296575" y="530350"/>
            <a:ext cx="87981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Course venue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494275" y="1130875"/>
            <a:ext cx="86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STT Lab 2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305853" y="1775938"/>
            <a:ext cx="87981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Course prerequisites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94275" y="2340900"/>
            <a:ext cx="860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Python Programming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Basic probability (Bayes Rule, distributions) and Statistics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Linear Algebra (Vector and Matrix manipulations)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Calculus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1" name="Google Shape;71;p15"/>
          <p:cNvSpPr txBox="1"/>
          <p:nvPr/>
        </p:nvSpPr>
        <p:spPr>
          <a:xfrm>
            <a:off x="296575" y="3840425"/>
            <a:ext cx="87981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Resources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2" name="Google Shape;72;p15"/>
          <p:cNvSpPr txBox="1"/>
          <p:nvPr/>
        </p:nvSpPr>
        <p:spPr>
          <a:xfrm>
            <a:off x="599800" y="4422250"/>
            <a:ext cx="8600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 u="sng">
                <a:solidFill>
                  <a:schemeClr val="hlink"/>
                </a:solidFill>
                <a:latin typeface="Verdana"/>
                <a:ea typeface="Verdana"/>
                <a:cs typeface="Verdana"/>
                <a:sym typeface="Verdana"/>
                <a:hlinkClick r:id="rId3"/>
              </a:rPr>
              <a:t>https://github.com/bumie-e/Final-Year-1st-semester-ML-Course/tree/main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/>
        </p:nvSpPr>
        <p:spPr>
          <a:xfrm>
            <a:off x="419575" y="520425"/>
            <a:ext cx="86004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Textbooks for the course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8" name="Google Shape;78;p16"/>
          <p:cNvSpPr txBox="1"/>
          <p:nvPr/>
        </p:nvSpPr>
        <p:spPr>
          <a:xfrm>
            <a:off x="419575" y="1345350"/>
            <a:ext cx="8353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Python Machine Learning by Sebastian Raschka &amp; Vahid Mirjalili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Hands-on Machine Learning with Python by Ashwin Pajankar and Aditiya Josh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419575" y="2372038"/>
            <a:ext cx="83778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Other books for your perusal: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419575" y="3030200"/>
            <a:ext cx="63141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Pattern Recognition and Machine Learning by Christopher M. Bishop.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Learning: A Probabilistic Perspective by Kevin P. Murphy.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Elements of Statistical Learning by Trevor Hastie, Robert Tibshirani, and Jerome Friedman.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by Tom Mitchell.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/>
        </p:nvSpPr>
        <p:spPr>
          <a:xfrm>
            <a:off x="382300" y="413450"/>
            <a:ext cx="85014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Course Expectations: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82300" y="1127975"/>
            <a:ext cx="6152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Before each class, the reading materials have been studied. If necessary, code exercises have been done.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All assignments are submitted at the beginning of the next class.  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Collaboration on assignments is not allowed.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Labs are designed to be collaborative and engaging and to be done during the class.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Each completed lab contributes to the participatory mark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/>
        </p:nvSpPr>
        <p:spPr>
          <a:xfrm>
            <a:off x="345975" y="2817325"/>
            <a:ext cx="89463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Grading Structure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370700" y="568400"/>
            <a:ext cx="88227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Teaching Format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8"/>
          <p:cNvSpPr txBox="1"/>
          <p:nvPr/>
        </p:nvSpPr>
        <p:spPr>
          <a:xfrm>
            <a:off x="370700" y="1192613"/>
            <a:ext cx="4318500" cy="16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Lectures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Conceptual framing + intuition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Labs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Hands-on notebooks (JupyterLab, VSCode, Google Colab)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Case studies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Real industry scenarios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Char char="➢"/>
            </a:pPr>
            <a:r>
              <a:rPr b="1"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In-class discussions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: Trade-offs, failures, ethics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4" name="Google Shape;94;p18"/>
          <p:cNvSpPr txBox="1"/>
          <p:nvPr/>
        </p:nvSpPr>
        <p:spPr>
          <a:xfrm>
            <a:off x="427150" y="3584175"/>
            <a:ext cx="46893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Weekly labs/assignments: 10 marks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Mid-semester applied assessment: 10 marks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Final project (team-based): 15 marks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Participation &amp; engagement: 5 marks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Exams 65 marks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/>
        </p:nvSpPr>
        <p:spPr>
          <a:xfrm>
            <a:off x="370700" y="346000"/>
            <a:ext cx="8472900" cy="461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Resources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370700" y="1015225"/>
            <a:ext cx="86004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Lecture notes, assignments, reading materials are 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also available on the page here: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u="sng">
                <a:solidFill>
                  <a:srgbClr val="4A86E8"/>
                </a:solidFill>
                <a:latin typeface="Verdana"/>
                <a:ea typeface="Verdana"/>
                <a:cs typeface="Verdana"/>
                <a:sym typeface="Verdana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https://github.com/bumie-e/Final-Year-1st-semester-ML-Course/tree/main</a:t>
            </a:r>
            <a:endParaRPr sz="1200">
              <a:solidFill>
                <a:srgbClr val="4A86E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Office Hours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1hr/week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TBD 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exactly</a:t>
            </a:r>
            <a:r>
              <a:rPr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 when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5" name="Google Shape;105;p20"/>
          <p:cNvGraphicFramePr/>
          <p:nvPr/>
        </p:nvGraphicFramePr>
        <p:xfrm>
          <a:off x="232200" y="75328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{3F1D5F4D-AE42-4E6A-AED7-E48F1CA9DB8A}</a:tableStyleId>
              </a:tblPr>
              <a:tblGrid>
                <a:gridCol w="804675"/>
                <a:gridCol w="2075475"/>
                <a:gridCol w="1366650"/>
              </a:tblGrid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Weeks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Topic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Assignment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What Machine Learning Really Is (and Is Not)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2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Data: The Real Bottleneck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3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Features Matter More Than Models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Linear Models and Optimisation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Asst1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5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Non-Parametric Models and Decision Trees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Mid term </a:t>
                      </a: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Assessment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7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Model Selection, Evaluation, and Learning Theory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6" name="Google Shape;106;p20"/>
          <p:cNvSpPr txBox="1"/>
          <p:nvPr/>
        </p:nvSpPr>
        <p:spPr>
          <a:xfrm>
            <a:off x="371950" y="216975"/>
            <a:ext cx="880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Course Schedules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107" name="Google Shape;107;p20"/>
          <p:cNvGraphicFramePr/>
          <p:nvPr/>
        </p:nvGraphicFramePr>
        <p:xfrm>
          <a:off x="4572000" y="75325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{3F1D5F4D-AE42-4E6A-AED7-E48F1CA9DB8A}</a:tableStyleId>
              </a:tblPr>
              <a:tblGrid>
                <a:gridCol w="731225"/>
                <a:gridCol w="2002075"/>
                <a:gridCol w="1366650"/>
              </a:tblGrid>
              <a:tr h="621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Weeks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Topic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Assignment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69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Support Vector Machines (SVMs) and Kernel Methods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8698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9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Unsupervised Learning I (Clustering &amp; Dimensionality Reduction)</a:t>
                      </a:r>
                      <a:endParaRPr sz="1100">
                        <a:solidFill>
                          <a:schemeClr val="dk1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11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10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Reinforcement Learning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Asst2 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52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11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Model Selection and Hyperparameter Tuning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  <a:tr h="644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12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chemeClr val="dk1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MLOps, Big Data, and Deployment</a:t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279000" y="241075"/>
            <a:ext cx="8586000" cy="62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Machine Learning Really Is (and Is Not)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312375" y="1381275"/>
            <a:ext cx="85527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What is Machine Learning?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4" name="Google Shape;114;p21"/>
          <p:cNvSpPr/>
          <p:nvPr/>
        </p:nvSpPr>
        <p:spPr>
          <a:xfrm>
            <a:off x="383825" y="2087850"/>
            <a:ext cx="7081500" cy="9678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Machine learning is the technology of developing computer algorithms that are able to emulate human intelligence. </a:t>
            </a:r>
            <a:r>
              <a:rPr i="1" lang="en-GB">
                <a:latin typeface="Verdana"/>
                <a:ea typeface="Verdana"/>
                <a:cs typeface="Verdana"/>
                <a:sym typeface="Verdana"/>
              </a:rPr>
              <a:t>El Naqa, I., Murphy, M.J. (2015)</a:t>
            </a:r>
            <a:endParaRPr i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5" name="Google Shape;115;p21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/>
        </p:nvSpPr>
        <p:spPr>
          <a:xfrm>
            <a:off x="279000" y="261100"/>
            <a:ext cx="8586000" cy="62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Machine Learning Really Is (and Is Not)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305700" y="1174375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What is Machine Learning?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2" name="Google Shape;122;p22"/>
          <p:cNvSpPr/>
          <p:nvPr/>
        </p:nvSpPr>
        <p:spPr>
          <a:xfrm>
            <a:off x="460525" y="1837925"/>
            <a:ext cx="6427500" cy="711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Machine learning is the technology of developing computer algorithms that are able to emulate human intelligence. </a:t>
            </a:r>
            <a:r>
              <a:rPr i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El Naqa, I., Murphy, M.J. (2015)</a:t>
            </a:r>
            <a:endParaRPr i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3" name="Google Shape;123;p22"/>
          <p:cNvSpPr/>
          <p:nvPr/>
        </p:nvSpPr>
        <p:spPr>
          <a:xfrm>
            <a:off x="714150" y="2981100"/>
            <a:ext cx="7715700" cy="10503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9525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A computer program is said to learn from experience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with respect to some class of tasks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and performance measure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, if its performance at tasks in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, as measured by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, improves with experience </a:t>
            </a:r>
            <a:r>
              <a:rPr i="1"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GB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. TM Mitchell (1997)</a:t>
            </a:r>
            <a:endParaRPr i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4" name="Google Shape;124;p22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3"/>
          <p:cNvSpPr txBox="1"/>
          <p:nvPr/>
        </p:nvSpPr>
        <p:spPr>
          <a:xfrm>
            <a:off x="279000" y="241075"/>
            <a:ext cx="8586000" cy="62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34343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Machine Learning Really Is (and Is Not)</a:t>
            </a:r>
            <a:endParaRPr>
              <a:solidFill>
                <a:srgbClr val="434343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0" name="Google Shape;130;p23"/>
          <p:cNvSpPr txBox="1"/>
          <p:nvPr/>
        </p:nvSpPr>
        <p:spPr>
          <a:xfrm>
            <a:off x="279000" y="1066100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What is Machine Learning?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1" name="Google Shape;131;p23"/>
          <p:cNvSpPr/>
          <p:nvPr/>
        </p:nvSpPr>
        <p:spPr>
          <a:xfrm>
            <a:off x="352525" y="2007750"/>
            <a:ext cx="4286100" cy="861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850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is the technology of developing computer algorithms that are able to emulate human intelligence.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El Naqa, I., Murphy, M.J. (2015)</a:t>
            </a:r>
            <a:endParaRPr i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2" name="Google Shape;132;p23"/>
          <p:cNvSpPr/>
          <p:nvPr/>
        </p:nvSpPr>
        <p:spPr>
          <a:xfrm>
            <a:off x="352525" y="3171946"/>
            <a:ext cx="4286100" cy="861900"/>
          </a:xfrm>
          <a:prstGeom prst="roundRect">
            <a:avLst>
              <a:gd fmla="val 16667" name="adj"/>
            </a:avLst>
          </a:prstGeom>
          <a:solidFill>
            <a:srgbClr val="CFE2F3"/>
          </a:solidFill>
          <a:ln cap="flat" cmpd="sng" w="8500">
            <a:solidFill>
              <a:srgbClr val="9FC5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1425" lIns="81425" spcFirstLastPara="1" rIns="81425" wrap="square" tIns="8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computer program is said to learn from experience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with respect to some class of tasks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and performance measure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if its performance at tasks in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as measured by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improves with experience 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. TM Mitchell (1997)</a:t>
            </a:r>
            <a:endParaRPr i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3" name="Google Shape;133;p23" title="Artificial Intelligence.png"/>
          <p:cNvPicPr preferRelativeResize="0"/>
          <p:nvPr/>
        </p:nvPicPr>
        <p:blipFill rotWithShape="1">
          <a:blip r:embed="rId3">
            <a:alphaModFix/>
          </a:blip>
          <a:srcRect b="27445" l="36528" r="37025" t="27304"/>
          <a:stretch/>
        </p:blipFill>
        <p:spPr>
          <a:xfrm>
            <a:off x="5171350" y="1141688"/>
            <a:ext cx="3693648" cy="355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3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rtificial Intelligence-2.png"/>
          <p:cNvPicPr preferRelativeResize="0"/>
          <p:nvPr/>
        </p:nvPicPr>
        <p:blipFill rotWithShape="1">
          <a:blip r:embed="rId3">
            <a:alphaModFix/>
          </a:blip>
          <a:srcRect b="12661" l="12741" r="13009" t="11616"/>
          <a:stretch/>
        </p:blipFill>
        <p:spPr>
          <a:xfrm>
            <a:off x="106800" y="607375"/>
            <a:ext cx="8403125" cy="4536124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24"/>
          <p:cNvSpPr txBox="1"/>
          <p:nvPr/>
        </p:nvSpPr>
        <p:spPr>
          <a:xfrm>
            <a:off x="279000" y="67550"/>
            <a:ext cx="81174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is Machine Learning?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1" name="Google Shape;141;p24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5"/>
          <p:cNvSpPr txBox="1"/>
          <p:nvPr/>
        </p:nvSpPr>
        <p:spPr>
          <a:xfrm>
            <a:off x="225600" y="1209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5"/>
          <p:cNvSpPr txBox="1"/>
          <p:nvPr/>
        </p:nvSpPr>
        <p:spPr>
          <a:xfrm>
            <a:off x="225600" y="920900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Typical software development 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8" name="Google Shape;148;p25" title="Artificial Intelligence-3.png"/>
          <p:cNvPicPr preferRelativeResize="0"/>
          <p:nvPr/>
        </p:nvPicPr>
        <p:blipFill rotWithShape="1">
          <a:blip r:embed="rId3">
            <a:alphaModFix/>
          </a:blip>
          <a:srcRect b="39820" l="22882" r="22714" t="40836"/>
          <a:stretch/>
        </p:blipFill>
        <p:spPr>
          <a:xfrm>
            <a:off x="981175" y="1982325"/>
            <a:ext cx="7275101" cy="1455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6"/>
          <p:cNvSpPr txBox="1"/>
          <p:nvPr/>
        </p:nvSpPr>
        <p:spPr>
          <a:xfrm>
            <a:off x="205575" y="408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6"/>
          <p:cNvSpPr txBox="1"/>
          <p:nvPr/>
        </p:nvSpPr>
        <p:spPr>
          <a:xfrm>
            <a:off x="205575" y="834300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Typical software development 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6" name="Google Shape;156;p26" title="Artificial Intelligence-3.png"/>
          <p:cNvPicPr preferRelativeResize="0"/>
          <p:nvPr/>
        </p:nvPicPr>
        <p:blipFill rotWithShape="1">
          <a:blip r:embed="rId3">
            <a:alphaModFix/>
          </a:blip>
          <a:srcRect b="39820" l="22882" r="22714" t="40836"/>
          <a:stretch/>
        </p:blipFill>
        <p:spPr>
          <a:xfrm>
            <a:off x="205575" y="1608550"/>
            <a:ext cx="5447674" cy="108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6" title="Artificial Intelligence-5.png"/>
          <p:cNvPicPr preferRelativeResize="0"/>
          <p:nvPr/>
        </p:nvPicPr>
        <p:blipFill rotWithShape="1">
          <a:blip r:embed="rId4">
            <a:alphaModFix/>
          </a:blip>
          <a:srcRect b="17196" l="21840" r="22087" t="19931"/>
          <a:stretch/>
        </p:blipFill>
        <p:spPr>
          <a:xfrm>
            <a:off x="4879050" y="2698100"/>
            <a:ext cx="3270475" cy="2062776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6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/>
        </p:nvSpPr>
        <p:spPr>
          <a:xfrm>
            <a:off x="205575" y="408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205575" y="688250"/>
            <a:ext cx="85593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Typical software 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5" name="Google Shape;165;p27" title="Artificial Intelligence-3.png"/>
          <p:cNvPicPr preferRelativeResize="0"/>
          <p:nvPr/>
        </p:nvPicPr>
        <p:blipFill rotWithShape="1">
          <a:blip r:embed="rId3">
            <a:alphaModFix/>
          </a:blip>
          <a:srcRect b="39820" l="22882" r="22714" t="40836"/>
          <a:stretch/>
        </p:blipFill>
        <p:spPr>
          <a:xfrm>
            <a:off x="205575" y="1176650"/>
            <a:ext cx="4418477" cy="883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7" title="Artificial Intelligence-5.png"/>
          <p:cNvPicPr preferRelativeResize="0"/>
          <p:nvPr/>
        </p:nvPicPr>
        <p:blipFill rotWithShape="1">
          <a:blip r:embed="rId4">
            <a:alphaModFix/>
          </a:blip>
          <a:srcRect b="17196" l="21840" r="22087" t="19931"/>
          <a:stretch/>
        </p:blipFill>
        <p:spPr>
          <a:xfrm>
            <a:off x="500600" y="2306525"/>
            <a:ext cx="3653390" cy="230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7" title="Artificial Intelligence-4.png"/>
          <p:cNvPicPr preferRelativeResize="0"/>
          <p:nvPr/>
        </p:nvPicPr>
        <p:blipFill rotWithShape="1">
          <a:blip r:embed="rId5">
            <a:alphaModFix/>
          </a:blip>
          <a:srcRect b="11574" l="27651" r="27345" t="12282"/>
          <a:stretch/>
        </p:blipFill>
        <p:spPr>
          <a:xfrm>
            <a:off x="4892375" y="1266912"/>
            <a:ext cx="3872501" cy="3685538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7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8"/>
          <p:cNvSpPr txBox="1"/>
          <p:nvPr/>
        </p:nvSpPr>
        <p:spPr>
          <a:xfrm>
            <a:off x="205575" y="408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4" name="Google Shape;174;p28"/>
          <p:cNvSpPr txBox="1"/>
          <p:nvPr/>
        </p:nvSpPr>
        <p:spPr>
          <a:xfrm>
            <a:off x="205575" y="661550"/>
            <a:ext cx="85758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Machine Learning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75" name="Google Shape;175;p28" title="Artificial Intelligence-6.png"/>
          <p:cNvPicPr preferRelativeResize="0"/>
          <p:nvPr/>
        </p:nvPicPr>
        <p:blipFill rotWithShape="1">
          <a:blip r:embed="rId3">
            <a:alphaModFix/>
          </a:blip>
          <a:srcRect b="40561" l="22554" r="22477" t="40576"/>
          <a:stretch/>
        </p:blipFill>
        <p:spPr>
          <a:xfrm>
            <a:off x="336025" y="1368250"/>
            <a:ext cx="8471952" cy="163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8"/>
          <p:cNvSpPr txBox="1"/>
          <p:nvPr/>
        </p:nvSpPr>
        <p:spPr>
          <a:xfrm>
            <a:off x="947025" y="3464225"/>
            <a:ext cx="709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We do not explicitly program the logic; the machine learns the mapping function </a:t>
            </a:r>
            <a:r>
              <a:rPr i="1"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(</a:t>
            </a:r>
            <a:r>
              <a:rPr i="1"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) to predict </a:t>
            </a:r>
            <a:r>
              <a:rPr i="1"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 from </a:t>
            </a:r>
            <a:r>
              <a:rPr i="1" lang="en-GB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endParaRPr>
              <a:solidFill>
                <a:srgbClr val="2222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77" name="Google Shape;177;p28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9"/>
          <p:cNvSpPr txBox="1"/>
          <p:nvPr/>
        </p:nvSpPr>
        <p:spPr>
          <a:xfrm>
            <a:off x="205575" y="408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205700" y="661550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Machine Learning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84" name="Google Shape;184;p29" title="Artificial Intelligence-7.png"/>
          <p:cNvPicPr preferRelativeResize="0"/>
          <p:nvPr/>
        </p:nvPicPr>
        <p:blipFill rotWithShape="1">
          <a:blip r:embed="rId3">
            <a:alphaModFix/>
          </a:blip>
          <a:srcRect b="5346" l="4137" r="3527" t="5257"/>
          <a:stretch/>
        </p:blipFill>
        <p:spPr>
          <a:xfrm>
            <a:off x="1948350" y="1305050"/>
            <a:ext cx="5560099" cy="30281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9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0"/>
          <p:cNvSpPr txBox="1"/>
          <p:nvPr/>
        </p:nvSpPr>
        <p:spPr>
          <a:xfrm>
            <a:off x="205575" y="408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205700" y="661550"/>
            <a:ext cx="8586000" cy="4617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Why use Machine Learning?</a:t>
            </a:r>
            <a:endParaRPr sz="18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379463" y="1324750"/>
            <a:ext cx="7428000" cy="6465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Handling Big Data &amp; Complexity</a:t>
            </a:r>
            <a:r>
              <a:rPr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: ML algorithms can analyze massive amounts of data and identify patterns too complex or vast for human analysis.</a:t>
            </a:r>
            <a:endParaRPr b="1" sz="1200">
              <a:solidFill>
                <a:srgbClr val="22222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3" name="Google Shape;193;p30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630213" y="2192350"/>
            <a:ext cx="7485900" cy="6465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Automation of Tasks</a:t>
            </a:r>
            <a:r>
              <a:rPr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: It automates repetitive, low-cognition tasks, freeing up human resources for more strategic work.</a:t>
            </a:r>
            <a:endParaRPr sz="12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868963" y="3059950"/>
            <a:ext cx="7689900" cy="6465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Improved Accuracy &amp; Decision Making</a:t>
            </a:r>
            <a:r>
              <a:rPr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: By learning from data, models improve their own performance, leading to more precise predictions.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1101800" y="3945825"/>
            <a:ext cx="7689900" cy="6465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900"/>
              </a:spcBef>
              <a:spcAft>
                <a:spcPts val="0"/>
              </a:spcAft>
              <a:buClr>
                <a:srgbClr val="222222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Personalization</a:t>
            </a:r>
            <a:r>
              <a:rPr lang="en-GB" sz="1200">
                <a:solidFill>
                  <a:srgbClr val="222222"/>
                </a:solidFill>
                <a:latin typeface="Verdana"/>
                <a:ea typeface="Verdana"/>
                <a:cs typeface="Verdana"/>
                <a:sym typeface="Verdana"/>
              </a:rPr>
              <a:t>: ML powers recommendation engines, allowing companies to offer tailored experiences to users, such as those on Netflix or Amazon.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1"/>
          <p:cNvSpPr txBox="1"/>
          <p:nvPr/>
        </p:nvSpPr>
        <p:spPr>
          <a:xfrm>
            <a:off x="232275" y="117350"/>
            <a:ext cx="8586000" cy="620700"/>
          </a:xfrm>
          <a:prstGeom prst="rect">
            <a:avLst/>
          </a:prstGeom>
          <a:solidFill>
            <a:srgbClr val="C9DAF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ML vs. Traditional Rule-Based Systems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2" name="Google Shape;202;p31"/>
          <p:cNvSpPr/>
          <p:nvPr/>
        </p:nvSpPr>
        <p:spPr>
          <a:xfrm>
            <a:off x="278900" y="1544475"/>
            <a:ext cx="6495900" cy="24399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111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6825" lIns="106825" spcFirstLastPara="1" rIns="106825" wrap="square" tIns="1068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35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3" name="Google Shape;203;p31"/>
          <p:cNvSpPr txBox="1"/>
          <p:nvPr/>
        </p:nvSpPr>
        <p:spPr>
          <a:xfrm>
            <a:off x="456800" y="1738725"/>
            <a:ext cx="6140100" cy="205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06825" lIns="106825" spcFirstLastPara="1" rIns="106825" wrap="square" tIns="106825">
            <a:spAutoFit/>
          </a:bodyPr>
          <a:lstStyle/>
          <a:p>
            <a:pPr indent="-350723" lvl="0" marL="53410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➢"/>
            </a:pPr>
            <a:r>
              <a:rPr b="1"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Clear Analytical Solutions:</a:t>
            </a:r>
            <a:r>
              <a:rPr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If a problem can be solved with a simple mathematical formula (e.g., calculating payroll, basic physics simulations) or software techniques.</a:t>
            </a:r>
            <a:endParaRPr sz="1317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0723" lvl="0" marL="53410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➢"/>
            </a:pPr>
            <a:r>
              <a:rPr b="1"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 Data Available:</a:t>
            </a:r>
            <a:r>
              <a:rPr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ML is data-hungry; without relevant experience </a:t>
            </a:r>
            <a:r>
              <a:rPr i="1"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</a:t>
            </a:r>
            <a:r>
              <a:rPr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learning cannot occur.</a:t>
            </a:r>
            <a:endParaRPr sz="1317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50723" lvl="0" marL="534104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18"/>
              <a:buChar char="➢"/>
            </a:pPr>
            <a:r>
              <a:rPr b="1"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100% Accuracy Required:</a:t>
            </a:r>
            <a:r>
              <a:rPr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ML is probabilistic; it makes errors. It is unsuitable for systems where a single error is catastrophic and deterministic rules exist. </a:t>
            </a:r>
            <a:r>
              <a:rPr i="1" lang="en-GB" sz="1317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Think of an AI Pilot…</a:t>
            </a:r>
            <a:endParaRPr i="1" sz="1285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4" name="Google Shape;204;p31"/>
          <p:cNvSpPr txBox="1"/>
          <p:nvPr/>
        </p:nvSpPr>
        <p:spPr>
          <a:xfrm>
            <a:off x="317600" y="905013"/>
            <a:ext cx="5145900" cy="444300"/>
          </a:xfrm>
          <a:prstGeom prst="rect">
            <a:avLst/>
          </a:prstGeom>
          <a:solidFill>
            <a:srgbClr val="EFEFEF"/>
          </a:solidFill>
          <a:ln>
            <a:noFill/>
          </a:ln>
        </p:spPr>
        <p:txBody>
          <a:bodyPr anchorCtr="0" anchor="t" bIns="114725" lIns="114725" spcFirstLastPara="1" rIns="114725" wrap="square" tIns="1147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8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When to not</a:t>
            </a:r>
            <a:r>
              <a:rPr lang="en-GB" sz="138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use Machine Learning?</a:t>
            </a:r>
            <a:endParaRPr sz="138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05" name="Google Shape;205;p31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1155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2"/>
          <p:cNvSpPr/>
          <p:nvPr/>
        </p:nvSpPr>
        <p:spPr>
          <a:xfrm>
            <a:off x="313700" y="954450"/>
            <a:ext cx="3290400" cy="1948800"/>
          </a:xfrm>
          <a:prstGeom prst="rect">
            <a:avLst/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32"/>
          <p:cNvSpPr txBox="1"/>
          <p:nvPr/>
        </p:nvSpPr>
        <p:spPr>
          <a:xfrm>
            <a:off x="309500" y="40850"/>
            <a:ext cx="84822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paradigms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2" name="Google Shape;212;p32"/>
          <p:cNvSpPr txBox="1"/>
          <p:nvPr/>
        </p:nvSpPr>
        <p:spPr>
          <a:xfrm>
            <a:off x="309500" y="1021975"/>
            <a:ext cx="38445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1150" lvl="0" marL="4572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Char char="➢"/>
            </a:pPr>
            <a:r>
              <a:rPr lang="en-GB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3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3" name="Google Shape;213;p32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3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33"/>
          <p:cNvSpPr txBox="1"/>
          <p:nvPr/>
        </p:nvSpPr>
        <p:spPr>
          <a:xfrm>
            <a:off x="309500" y="107600"/>
            <a:ext cx="84822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paradigms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0" name="Google Shape;220;p33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1" name="Google Shape;221;p33"/>
          <p:cNvSpPr/>
          <p:nvPr/>
        </p:nvSpPr>
        <p:spPr>
          <a:xfrm>
            <a:off x="4533375" y="927750"/>
            <a:ext cx="4258200" cy="390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2" name="Google Shape;222;p33"/>
          <p:cNvSpPr txBox="1"/>
          <p:nvPr/>
        </p:nvSpPr>
        <p:spPr>
          <a:xfrm>
            <a:off x="4805600" y="1254950"/>
            <a:ext cx="384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Here, the model learns from a set of inputs and </a:t>
            </a:r>
            <a:r>
              <a:rPr i="1"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known</a:t>
            </a: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outputs. This input-output set is known as </a:t>
            </a:r>
            <a:r>
              <a:rPr i="1"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labelled data</a:t>
            </a:r>
            <a:endParaRPr i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23" name="Google Shape;223;p33"/>
          <p:cNvSpPr txBox="1"/>
          <p:nvPr/>
        </p:nvSpPr>
        <p:spPr>
          <a:xfrm>
            <a:off x="4805600" y="1772900"/>
            <a:ext cx="3844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74E13"/>
                </a:solidFill>
                <a:latin typeface="Verdana"/>
                <a:ea typeface="Verdana"/>
                <a:cs typeface="Verdana"/>
                <a:sym typeface="Verdana"/>
              </a:rPr>
              <a:t>Goal:</a:t>
            </a:r>
            <a:endParaRPr sz="1100">
              <a:solidFill>
                <a:srgbClr val="274E1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4E1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train a predictive model that learns patterns from this data set, and use it to predict the output of an unseen input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24" name="Google Shape;224;p33"/>
          <p:cNvGraphicFramePr/>
          <p:nvPr/>
        </p:nvGraphicFramePr>
        <p:xfrm>
          <a:off x="4943750" y="2841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{3F1D5F4D-AE42-4E6A-AED7-E48F1CA9DB8A}</a:tableStyleId>
              </a:tblPr>
              <a:tblGrid>
                <a:gridCol w="813375"/>
                <a:gridCol w="613125"/>
                <a:gridCol w="713250"/>
              </a:tblGrid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Size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Price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Bungalow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600 by 700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1.2 M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Duplex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800 by 900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 M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5" name="Google Shape;225;p33" title="Artificial Intelligence-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179" y="2827612"/>
            <a:ext cx="1152050" cy="1413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3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4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2" name="Google Shape;232;p34"/>
          <p:cNvSpPr txBox="1"/>
          <p:nvPr/>
        </p:nvSpPr>
        <p:spPr>
          <a:xfrm>
            <a:off x="313200" y="14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paradigms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3" name="Google Shape;233;p34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4" name="Google Shape;234;p34"/>
          <p:cNvSpPr/>
          <p:nvPr/>
        </p:nvSpPr>
        <p:spPr>
          <a:xfrm>
            <a:off x="4641000" y="916950"/>
            <a:ext cx="4258200" cy="39045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9525">
            <a:solidFill>
              <a:srgbClr val="D0E0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5" name="Google Shape;235;p34"/>
          <p:cNvSpPr txBox="1"/>
          <p:nvPr/>
        </p:nvSpPr>
        <p:spPr>
          <a:xfrm>
            <a:off x="4913225" y="1297550"/>
            <a:ext cx="3844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Here, the model learns from a set of inputs and </a:t>
            </a:r>
            <a:r>
              <a:rPr i="1"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known</a:t>
            </a: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outputs. This input-</a:t>
            </a: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r>
              <a:rPr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set is known as </a:t>
            </a:r>
            <a:r>
              <a:rPr i="1" lang="en-GB" sz="10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labelled data</a:t>
            </a:r>
            <a:endParaRPr i="1" sz="1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6" name="Google Shape;236;p34"/>
          <p:cNvSpPr txBox="1"/>
          <p:nvPr/>
        </p:nvSpPr>
        <p:spPr>
          <a:xfrm>
            <a:off x="4913225" y="1815500"/>
            <a:ext cx="38445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274E13"/>
                </a:solidFill>
                <a:latin typeface="Verdana"/>
                <a:ea typeface="Verdana"/>
                <a:cs typeface="Verdana"/>
                <a:sym typeface="Verdana"/>
              </a:rPr>
              <a:t>Goal:</a:t>
            </a:r>
            <a:endParaRPr sz="1100">
              <a:solidFill>
                <a:srgbClr val="274E1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274E13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train a predictive model that learns patterns from this data set, and use it to predict the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an unseen input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graphicFrame>
        <p:nvGraphicFramePr>
          <p:cNvPr id="237" name="Google Shape;237;p34"/>
          <p:cNvGraphicFramePr/>
          <p:nvPr/>
        </p:nvGraphicFramePr>
        <p:xfrm>
          <a:off x="5051375" y="2883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{3F1D5F4D-AE42-4E6A-AED7-E48F1CA9DB8A}</a:tableStyleId>
              </a:tblPr>
              <a:tblGrid>
                <a:gridCol w="813375"/>
                <a:gridCol w="613125"/>
                <a:gridCol w="713250"/>
              </a:tblGrid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Type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Size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Price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</a:tr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Bungalow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600 by 700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1.2 M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Duplex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800 by 900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4 M</a:t>
                      </a:r>
                      <a:endParaRPr sz="1100"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74E1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38" name="Google Shape;238;p34"/>
          <p:cNvSpPr txBox="1"/>
          <p:nvPr/>
        </p:nvSpPr>
        <p:spPr>
          <a:xfrm>
            <a:off x="313200" y="3208600"/>
            <a:ext cx="3251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we build a model, that takes inputs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and gives an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output/prediction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y ≈ f(x) = m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+ m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+ c</a:t>
            </a:r>
            <a:endParaRPr sz="1100"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the weight.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the bias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39" name="Google Shape;239;p34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34" title="Artificial Intelligence-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15179" y="2827612"/>
            <a:ext cx="1152050" cy="141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5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6" name="Google Shape;246;p35"/>
          <p:cNvSpPr txBox="1"/>
          <p:nvPr/>
        </p:nvSpPr>
        <p:spPr>
          <a:xfrm>
            <a:off x="313200" y="809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Machine learning paradigms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7" name="Google Shape;247;p35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8" name="Google Shape;248;p35"/>
          <p:cNvSpPr txBox="1"/>
          <p:nvPr/>
        </p:nvSpPr>
        <p:spPr>
          <a:xfrm>
            <a:off x="313200" y="3208600"/>
            <a:ext cx="32511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we build a model, that takes inputs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and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and gives an output/prediction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y ≈ f(x) = m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+ m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+ c</a:t>
            </a:r>
            <a:endParaRPr sz="1100"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the weight.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       </a:t>
            </a: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is the bias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4403525" y="1078350"/>
            <a:ext cx="32511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 ≈ f(x) = Predict(x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, 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, 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,...x</a:t>
            </a:r>
            <a:r>
              <a:rPr baseline="-25000"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-GB" sz="1100">
                <a:solidFill>
                  <a:schemeClr val="dk1"/>
                </a:solidFill>
                <a:highlight>
                  <a:srgbClr val="B6D7A8"/>
                </a:highlight>
                <a:latin typeface="Verdana"/>
                <a:ea typeface="Verdana"/>
                <a:cs typeface="Verdana"/>
                <a:sym typeface="Verdana"/>
              </a:rPr>
              <a:t>)</a:t>
            </a:r>
            <a:endParaRPr sz="1100">
              <a:solidFill>
                <a:schemeClr val="dk1"/>
              </a:solidFill>
              <a:highlight>
                <a:srgbClr val="B6D7A8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Given that, </a:t>
            </a:r>
            <a:r>
              <a:rPr lang="en-GB" sz="1100">
                <a:solidFill>
                  <a:srgbClr val="274E13"/>
                </a:solidFill>
                <a:latin typeface="Verdana"/>
                <a:ea typeface="Verdana"/>
                <a:cs typeface="Verdana"/>
                <a:sym typeface="Verdana"/>
              </a:rPr>
              <a:t>Predict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has already been trained on the set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z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endParaRPr baseline="-25000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z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endParaRPr baseline="-25000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= 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z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endParaRPr baseline="-25000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Can we predict the value of y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4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, given that we have data points 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+ z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?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Think of: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House prices, given location and development type (urban vs rural)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Dog breed, given Picture and behaviour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-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Nationality, given Language and Favourite food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35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6"/>
          <p:cNvSpPr txBox="1"/>
          <p:nvPr/>
        </p:nvSpPr>
        <p:spPr>
          <a:xfrm>
            <a:off x="279000" y="18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6" name="Google Shape;256;p36"/>
          <p:cNvSpPr txBox="1"/>
          <p:nvPr/>
        </p:nvSpPr>
        <p:spPr>
          <a:xfrm>
            <a:off x="2649750" y="2217750"/>
            <a:ext cx="3844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What other examples can you think of?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7" name="Google Shape;257;p36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7"/>
          <p:cNvSpPr txBox="1"/>
          <p:nvPr/>
        </p:nvSpPr>
        <p:spPr>
          <a:xfrm>
            <a:off x="279000" y="18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63" name="Google Shape;263;p37"/>
          <p:cNvSpPr txBox="1"/>
          <p:nvPr/>
        </p:nvSpPr>
        <p:spPr>
          <a:xfrm>
            <a:off x="313200" y="2875775"/>
            <a:ext cx="38445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Classification</a:t>
            </a:r>
            <a:endParaRPr b="1" sz="11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Works with discrete categories or classes. These categories are finite.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y([0,1,...]) =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+...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4" name="Google Shape;264;p37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37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266" name="Google Shape;266;p37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7" name="Google Shape;267;p37" title="Artificial Intelligence-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10100" y="954100"/>
            <a:ext cx="4681502" cy="2633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8"/>
          <p:cNvSpPr txBox="1"/>
          <p:nvPr/>
        </p:nvSpPr>
        <p:spPr>
          <a:xfrm>
            <a:off x="279000" y="18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3" name="Google Shape;273;p38"/>
          <p:cNvSpPr txBox="1"/>
          <p:nvPr/>
        </p:nvSpPr>
        <p:spPr>
          <a:xfrm>
            <a:off x="4041325" y="1060075"/>
            <a:ext cx="38445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Classification</a:t>
            </a:r>
            <a:endParaRPr b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Binary classification, involving two classes</a:t>
            </a:r>
            <a:endParaRPr sz="11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Multi-class classification, involving more than 2 classes</a:t>
            </a:r>
            <a:endParaRPr sz="11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4" name="Google Shape;274;p38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8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276" name="Google Shape;276;p38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7" name="Google Shape;277;p38" title="Artificial Intelligence-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6975" y="2965575"/>
            <a:ext cx="3049613" cy="17153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38" title="Artificial Intelligence-12.png"/>
          <p:cNvPicPr preferRelativeResize="0"/>
          <p:nvPr/>
        </p:nvPicPr>
        <p:blipFill rotWithShape="1">
          <a:blip r:embed="rId4">
            <a:alphaModFix/>
          </a:blip>
          <a:srcRect b="0" l="13283" r="12549" t="0"/>
          <a:stretch/>
        </p:blipFill>
        <p:spPr>
          <a:xfrm>
            <a:off x="3890025" y="2179175"/>
            <a:ext cx="3688550" cy="279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9"/>
          <p:cNvSpPr txBox="1"/>
          <p:nvPr/>
        </p:nvSpPr>
        <p:spPr>
          <a:xfrm>
            <a:off x="279000" y="18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84" name="Google Shape;284;p39"/>
          <p:cNvSpPr txBox="1"/>
          <p:nvPr/>
        </p:nvSpPr>
        <p:spPr>
          <a:xfrm>
            <a:off x="4041325" y="1060075"/>
            <a:ext cx="48237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Regression</a:t>
            </a:r>
            <a:endParaRPr b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Predicts continuous variables. Cannot be categorised because it’d be infinite. 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example, consider the prices of cars in Lagos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9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287" name="Google Shape;287;p39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8" name="Google Shape;288;p39" title="Artificial Intelligence-13.png"/>
          <p:cNvPicPr preferRelativeResize="0"/>
          <p:nvPr/>
        </p:nvPicPr>
        <p:blipFill rotWithShape="1">
          <a:blip r:embed="rId3">
            <a:alphaModFix/>
          </a:blip>
          <a:srcRect b="30536" l="35228" r="32568" t="32170"/>
          <a:stretch/>
        </p:blipFill>
        <p:spPr>
          <a:xfrm>
            <a:off x="3941225" y="2198724"/>
            <a:ext cx="4044701" cy="2634776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9"/>
          <p:cNvSpPr txBox="1"/>
          <p:nvPr/>
        </p:nvSpPr>
        <p:spPr>
          <a:xfrm>
            <a:off x="261300" y="3409675"/>
            <a:ext cx="3507300" cy="8619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y([34.5, 15.2, 33.4]) =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1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2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3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+... + wx</a:t>
            </a:r>
            <a:r>
              <a:rPr baseline="-25000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</a:t>
            </a:r>
            <a:endParaRPr baseline="-25000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Where n e R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40"/>
          <p:cNvSpPr txBox="1"/>
          <p:nvPr/>
        </p:nvSpPr>
        <p:spPr>
          <a:xfrm>
            <a:off x="279000" y="181000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95" name="Google Shape;295;p40"/>
          <p:cNvSpPr txBox="1"/>
          <p:nvPr/>
        </p:nvSpPr>
        <p:spPr>
          <a:xfrm>
            <a:off x="4014500" y="1013875"/>
            <a:ext cx="48504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 does the model know if it’s approximating right?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Through a loss function!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</a:t>
            </a:r>
            <a:r>
              <a:rPr b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loss function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calculates how much a model’s current subset of outputs deviates from the ground truth while training.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For instance, </a:t>
            </a:r>
            <a:endParaRPr i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Ground truth = 10.3, 2.3, 5.6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Current prediction = 9, 4.1, 3.4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Value of loss = ?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40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40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298" name="Google Shape;298;p40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40"/>
          <p:cNvSpPr txBox="1"/>
          <p:nvPr/>
        </p:nvSpPr>
        <p:spPr>
          <a:xfrm>
            <a:off x="313200" y="3200325"/>
            <a:ext cx="2896200" cy="10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Goal:</a:t>
            </a:r>
            <a:endParaRPr b="1"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minimise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loss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98450" lvl="0" marL="457200" rtl="0" algn="just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MAE, MSE, Cross Entropy, </a:t>
            </a:r>
            <a:endParaRPr sz="11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0" name="Google Shape;30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00" y="1824300"/>
            <a:ext cx="1640086" cy="5618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40" title="Screenshot 2026-02-28 at 20.58.39.png"/>
          <p:cNvPicPr preferRelativeResize="0"/>
          <p:nvPr/>
        </p:nvPicPr>
        <p:blipFill rotWithShape="1">
          <a:blip r:embed="rId4">
            <a:alphaModFix/>
          </a:blip>
          <a:srcRect b="0" l="0" r="0" t="9486"/>
          <a:stretch/>
        </p:blipFill>
        <p:spPr>
          <a:xfrm>
            <a:off x="4082763" y="3530073"/>
            <a:ext cx="4782226" cy="56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41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07" name="Google Shape;307;p41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08" name="Google Shape;308;p41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09" name="Google Shape;309;p41"/>
          <p:cNvSpPr/>
          <p:nvPr/>
        </p:nvSpPr>
        <p:spPr>
          <a:xfrm>
            <a:off x="3944525" y="954450"/>
            <a:ext cx="4833600" cy="2506800"/>
          </a:xfrm>
          <a:prstGeom prst="roundRect">
            <a:avLst>
              <a:gd fmla="val 16667" name="adj"/>
            </a:avLst>
          </a:prstGeom>
          <a:solidFill>
            <a:srgbClr val="FCE5CD"/>
          </a:solidFill>
          <a:ln cap="flat" cmpd="sng" w="9525">
            <a:solidFill>
              <a:srgbClr val="FF99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0" name="Google Shape;310;p41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1"/>
          <p:cNvSpPr txBox="1"/>
          <p:nvPr/>
        </p:nvSpPr>
        <p:spPr>
          <a:xfrm>
            <a:off x="4223475" y="1021650"/>
            <a:ext cx="412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Discover underlying structure in a collection of entirely unlabeled data. Only input features </a:t>
            </a:r>
            <a:r>
              <a:rPr i="1"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x</a:t>
            </a: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are provided; there are no </a:t>
            </a:r>
            <a:r>
              <a:rPr i="1"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labels. 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Useful in finding similarities, correlations, or clusters.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2" name="Google Shape;312;p41"/>
          <p:cNvSpPr txBox="1"/>
          <p:nvPr/>
        </p:nvSpPr>
        <p:spPr>
          <a:xfrm>
            <a:off x="4223475" y="2253800"/>
            <a:ext cx="41259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Goal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 explore patterns, discover hidden features, compress data, or group similar items without explicit labelling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3" name="Google Shape;313;p41" title="Artificial Intelligence-14.png"/>
          <p:cNvPicPr preferRelativeResize="0"/>
          <p:nvPr/>
        </p:nvPicPr>
        <p:blipFill rotWithShape="1">
          <a:blip r:embed="rId3">
            <a:alphaModFix/>
          </a:blip>
          <a:srcRect b="12394" l="18625" r="14112" t="14314"/>
          <a:stretch/>
        </p:blipFill>
        <p:spPr>
          <a:xfrm>
            <a:off x="296100" y="2925180"/>
            <a:ext cx="2930400" cy="1796186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1"/>
          <p:cNvSpPr txBox="1"/>
          <p:nvPr/>
        </p:nvSpPr>
        <p:spPr>
          <a:xfrm>
            <a:off x="3944525" y="4051475"/>
            <a:ext cx="4833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Because unsupervised learning does not acknowledge labels, they don’t require loss functions.</a:t>
            </a:r>
            <a:endParaRPr i="1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42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20" name="Google Shape;320;p42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21" name="Google Shape;321;p42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C7C7C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C7C7C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C7C7C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p42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3" name="Google Shape;323;p42" title="Artificial Intelligence-14.png"/>
          <p:cNvPicPr preferRelativeResize="0"/>
          <p:nvPr/>
        </p:nvPicPr>
        <p:blipFill rotWithShape="1">
          <a:blip r:embed="rId3">
            <a:alphaModFix/>
          </a:blip>
          <a:srcRect b="12394" l="18625" r="14112" t="14314"/>
          <a:stretch/>
        </p:blipFill>
        <p:spPr>
          <a:xfrm>
            <a:off x="296100" y="2925180"/>
            <a:ext cx="2930400" cy="1796186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42"/>
          <p:cNvSpPr txBox="1"/>
          <p:nvPr/>
        </p:nvSpPr>
        <p:spPr>
          <a:xfrm>
            <a:off x="3971375" y="1278750"/>
            <a:ext cx="3621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Common Clustering Algorithms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Anomaly Detection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Clustering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Dimensionality Reduction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Association Rule Mining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3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43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31" name="Google Shape;331;p43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32" name="Google Shape;332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00" y="1824300"/>
            <a:ext cx="1640086" cy="561826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43"/>
          <p:cNvSpPr/>
          <p:nvPr/>
        </p:nvSpPr>
        <p:spPr>
          <a:xfrm>
            <a:off x="309500" y="2951325"/>
            <a:ext cx="3058800" cy="1743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4" name="Google Shape;334;p43" title="Artificial Intelligence-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0741" y="661538"/>
            <a:ext cx="5417434" cy="3047301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43"/>
          <p:cNvSpPr txBox="1"/>
          <p:nvPr/>
        </p:nvSpPr>
        <p:spPr>
          <a:xfrm>
            <a:off x="442700" y="3084525"/>
            <a:ext cx="27666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Teaching agents to learn by trial and error.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Rather than gather a bunch of data to train, data is gotten through interaction with the environment and feedback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36" name="Google Shape;336;p43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4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44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43" name="Google Shape;343;p44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44" name="Google Shape;34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1100" y="1824300"/>
            <a:ext cx="1640086" cy="561826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44"/>
          <p:cNvSpPr/>
          <p:nvPr/>
        </p:nvSpPr>
        <p:spPr>
          <a:xfrm>
            <a:off x="309500" y="3227325"/>
            <a:ext cx="3058800" cy="1191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6" name="Google Shape;346;p44" title="Artificial Intelligence-1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4141" y="1048088"/>
            <a:ext cx="5417434" cy="3047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4"/>
          <p:cNvSpPr txBox="1"/>
          <p:nvPr/>
        </p:nvSpPr>
        <p:spPr>
          <a:xfrm>
            <a:off x="484200" y="3361563"/>
            <a:ext cx="25542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Can be categorised into:</a:t>
            </a:r>
            <a:endParaRPr b="1" sz="12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Model-based RL</a:t>
            </a:r>
            <a:endParaRPr sz="12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51C75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Model-free RL</a:t>
            </a:r>
            <a:endParaRPr sz="1200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48" name="Google Shape;348;p44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5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45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55" name="Google Shape;355;p45"/>
          <p:cNvSpPr txBox="1"/>
          <p:nvPr/>
        </p:nvSpPr>
        <p:spPr>
          <a:xfrm>
            <a:off x="309500" y="1013875"/>
            <a:ext cx="28962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6" name="Google Shape;356;p45"/>
          <p:cNvSpPr/>
          <p:nvPr/>
        </p:nvSpPr>
        <p:spPr>
          <a:xfrm>
            <a:off x="4794650" y="1013875"/>
            <a:ext cx="3775200" cy="1715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5"/>
          <p:cNvSpPr txBox="1"/>
          <p:nvPr/>
        </p:nvSpPr>
        <p:spPr>
          <a:xfrm>
            <a:off x="4860694" y="1107257"/>
            <a:ext cx="3643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Like supervised learning, some parts of the data contain labels, while the other part doesn’t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goal is still the same, to learn from both. In real world, it is often impractical to label millions of data points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45"/>
          <p:cNvSpPr txBox="1"/>
          <p:nvPr/>
        </p:nvSpPr>
        <p:spPr>
          <a:xfrm>
            <a:off x="313200" y="3072300"/>
            <a:ext cx="289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Can be:</a:t>
            </a:r>
            <a:endParaRPr b="1"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Inductive (learning a general model) </a:t>
            </a:r>
            <a:endParaRPr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Transductive (predicting only the specific unlabeled instances)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9" name="Google Shape;359;p45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6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6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66" name="Google Shape;366;p46"/>
          <p:cNvSpPr txBox="1"/>
          <p:nvPr/>
        </p:nvSpPr>
        <p:spPr>
          <a:xfrm>
            <a:off x="309500" y="1013875"/>
            <a:ext cx="28962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7" name="Google Shape;367;p46"/>
          <p:cNvSpPr/>
          <p:nvPr/>
        </p:nvSpPr>
        <p:spPr>
          <a:xfrm>
            <a:off x="3522763" y="954450"/>
            <a:ext cx="2683800" cy="2054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46"/>
          <p:cNvSpPr txBox="1"/>
          <p:nvPr/>
        </p:nvSpPr>
        <p:spPr>
          <a:xfrm>
            <a:off x="3569713" y="1051450"/>
            <a:ext cx="25899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Like supervised learning, some parts of the data contain labels, while the other part doesn’t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goal is still the same, to learn from both. In real world, it is often impractical to label millions of data points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69" name="Google Shape;369;p46"/>
          <p:cNvSpPr txBox="1"/>
          <p:nvPr/>
        </p:nvSpPr>
        <p:spPr>
          <a:xfrm>
            <a:off x="3522775" y="3531075"/>
            <a:ext cx="2683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351C75"/>
                </a:solidFill>
              </a:rPr>
              <a:t>Like with LLM models today, you’d label a small subset,  train a classification </a:t>
            </a:r>
            <a:r>
              <a:rPr i="1" lang="en-GB" sz="1200">
                <a:solidFill>
                  <a:srgbClr val="351C75"/>
                </a:solidFill>
              </a:rPr>
              <a:t>model</a:t>
            </a:r>
            <a:r>
              <a:rPr i="1" lang="en-GB" sz="1200">
                <a:solidFill>
                  <a:srgbClr val="351C75"/>
                </a:solidFill>
              </a:rPr>
              <a:t> </a:t>
            </a:r>
            <a:r>
              <a:rPr i="1" lang="en-GB" sz="1200">
                <a:solidFill>
                  <a:srgbClr val="351C75"/>
                </a:solidFill>
              </a:rPr>
              <a:t>then use</a:t>
            </a:r>
            <a:r>
              <a:rPr i="1" lang="en-GB" sz="1200">
                <a:solidFill>
                  <a:srgbClr val="351C75"/>
                </a:solidFill>
              </a:rPr>
              <a:t> it to label the rest</a:t>
            </a:r>
            <a:endParaRPr i="1" sz="1200">
              <a:solidFill>
                <a:srgbClr val="351C75"/>
              </a:solidFill>
            </a:endParaRPr>
          </a:p>
        </p:txBody>
      </p:sp>
      <p:sp>
        <p:nvSpPr>
          <p:cNvPr id="370" name="Google Shape;370;p46"/>
          <p:cNvSpPr txBox="1"/>
          <p:nvPr/>
        </p:nvSpPr>
        <p:spPr>
          <a:xfrm>
            <a:off x="313200" y="3072300"/>
            <a:ext cx="28962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Can be:</a:t>
            </a:r>
            <a:endParaRPr b="1"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Inductive (learning a general model) </a:t>
            </a:r>
            <a:endParaRPr sz="1200">
              <a:solidFill>
                <a:srgbClr val="303030"/>
              </a:solidFill>
              <a:highlight>
                <a:srgbClr val="FFFFFF"/>
              </a:highlight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Transductive</a:t>
            </a:r>
            <a:r>
              <a:rPr lang="en-GB" sz="1200">
                <a:solidFill>
                  <a:srgbClr val="303030"/>
                </a:solidFill>
                <a:highlight>
                  <a:srgbClr val="FFFFFF"/>
                </a:highlight>
                <a:latin typeface="Verdana"/>
                <a:ea typeface="Verdana"/>
                <a:cs typeface="Verdana"/>
                <a:sym typeface="Verdana"/>
              </a:rPr>
              <a:t> (predicting only the specific unlabeled instances)</a:t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1" name="Google Shape;371;p46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372" name="Google Shape;372;p46" title="Artificial Intelligence-16.png"/>
          <p:cNvPicPr preferRelativeResize="0"/>
          <p:nvPr/>
        </p:nvPicPr>
        <p:blipFill rotWithShape="1">
          <a:blip r:embed="rId3">
            <a:alphaModFix/>
          </a:blip>
          <a:srcRect b="5729" l="31630" r="31791" t="5994"/>
          <a:stretch/>
        </p:blipFill>
        <p:spPr>
          <a:xfrm>
            <a:off x="6290200" y="1165425"/>
            <a:ext cx="2510376" cy="3407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7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47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79" name="Google Shape;379;p47"/>
          <p:cNvSpPr txBox="1"/>
          <p:nvPr/>
        </p:nvSpPr>
        <p:spPr>
          <a:xfrm>
            <a:off x="309500" y="1013875"/>
            <a:ext cx="28296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0" name="Google Shape;380;p47"/>
          <p:cNvSpPr/>
          <p:nvPr/>
        </p:nvSpPr>
        <p:spPr>
          <a:xfrm>
            <a:off x="3421900" y="954450"/>
            <a:ext cx="5443200" cy="7896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7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82" name="Google Shape;382;p47"/>
          <p:cNvSpPr txBox="1"/>
          <p:nvPr/>
        </p:nvSpPr>
        <p:spPr>
          <a:xfrm>
            <a:off x="3433600" y="979800"/>
            <a:ext cx="5419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Inspired by the human brain, the idea of interconnected processing layers, with its own mathematical function (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activation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), where the output of one layer is 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input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to the other until the final layer.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3" name="Google Shape;383;p47"/>
          <p:cNvSpPr txBox="1"/>
          <p:nvPr/>
        </p:nvSpPr>
        <p:spPr>
          <a:xfrm>
            <a:off x="313200" y="3085575"/>
            <a:ext cx="2896200" cy="10731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Through backpropagation, the model can determine the contribution of each node to the loss function by adjusting the weights!</a:t>
            </a:r>
            <a:endParaRPr i="1"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84" name="Google Shape;384;p47" title="Artificial Intelligence-17.png"/>
          <p:cNvPicPr preferRelativeResize="0"/>
          <p:nvPr/>
        </p:nvPicPr>
        <p:blipFill rotWithShape="1">
          <a:blip r:embed="rId3">
            <a:alphaModFix/>
          </a:blip>
          <a:srcRect b="33482" l="36278" r="35371" t="32362"/>
          <a:stretch/>
        </p:blipFill>
        <p:spPr>
          <a:xfrm>
            <a:off x="4385300" y="2054377"/>
            <a:ext cx="3516398" cy="238287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7"/>
          <p:cNvSpPr txBox="1"/>
          <p:nvPr/>
        </p:nvSpPr>
        <p:spPr>
          <a:xfrm>
            <a:off x="7002875" y="2213550"/>
            <a:ext cx="2173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8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48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392" name="Google Shape;392;p48"/>
          <p:cNvSpPr txBox="1"/>
          <p:nvPr/>
        </p:nvSpPr>
        <p:spPr>
          <a:xfrm>
            <a:off x="309500" y="1013875"/>
            <a:ext cx="28296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3" name="Google Shape;393;p48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394" name="Google Shape;394;p48"/>
          <p:cNvSpPr txBox="1"/>
          <p:nvPr/>
        </p:nvSpPr>
        <p:spPr>
          <a:xfrm>
            <a:off x="313200" y="2877675"/>
            <a:ext cx="4610400" cy="189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Activation Function: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 mathematical function that is applied to the output of a neuron.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Helps introduces non linearity into models.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 are several types, but 3 are 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most</a:t>
            </a: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common, Sigmoid, Softmax, and Relu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95" name="Google Shape;395;p48" title="Artificial Intelligence-17.png"/>
          <p:cNvPicPr preferRelativeResize="0"/>
          <p:nvPr/>
        </p:nvPicPr>
        <p:blipFill rotWithShape="1">
          <a:blip r:embed="rId3">
            <a:alphaModFix/>
          </a:blip>
          <a:srcRect b="33482" l="36278" r="35371" t="32362"/>
          <a:stretch/>
        </p:blipFill>
        <p:spPr>
          <a:xfrm>
            <a:off x="5122325" y="941362"/>
            <a:ext cx="3306048" cy="2240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6" name="Google Shape;396;p48"/>
          <p:cNvSpPr txBox="1"/>
          <p:nvPr/>
        </p:nvSpPr>
        <p:spPr>
          <a:xfrm>
            <a:off x="5122325" y="3769773"/>
            <a:ext cx="1948800" cy="4140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00" lIns="82000" spcFirstLastPara="1" rIns="82000" wrap="square" tIns="82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14">
              <a:solidFill>
                <a:schemeClr val="dk2"/>
              </a:solidFill>
            </a:endParaRPr>
          </a:p>
        </p:txBody>
      </p:sp>
      <p:pic>
        <p:nvPicPr>
          <p:cNvPr id="397" name="Google Shape;397;p48" title="Screenshot 2026-02-28 at 20.17.4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71123" y="3472250"/>
            <a:ext cx="1701025" cy="981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48"/>
          <p:cNvSpPr txBox="1"/>
          <p:nvPr/>
        </p:nvSpPr>
        <p:spPr>
          <a:xfrm>
            <a:off x="5316469" y="3769806"/>
            <a:ext cx="1948800" cy="3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82000" lIns="82000" spcFirstLastPara="1" rIns="82000" wrap="square" tIns="820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34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Sigmoid Function, </a:t>
            </a:r>
            <a:endParaRPr sz="1434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9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9"/>
          <p:cNvSpPr/>
          <p:nvPr/>
        </p:nvSpPr>
        <p:spPr>
          <a:xfrm>
            <a:off x="312985" y="954450"/>
            <a:ext cx="2730600" cy="1617300"/>
          </a:xfrm>
          <a:prstGeom prst="rect">
            <a:avLst/>
          </a:prstGeom>
          <a:solidFill>
            <a:srgbClr val="CFE2F3"/>
          </a:solidFill>
          <a:ln cap="flat" cmpd="sng" w="7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1"/>
          </a:p>
        </p:txBody>
      </p:sp>
      <p:sp>
        <p:nvSpPr>
          <p:cNvPr id="405" name="Google Shape;405;p49"/>
          <p:cNvSpPr txBox="1"/>
          <p:nvPr/>
        </p:nvSpPr>
        <p:spPr>
          <a:xfrm>
            <a:off x="309500" y="1010477"/>
            <a:ext cx="26679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spAutoFit/>
          </a:bodyPr>
          <a:lstStyle/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078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SzPts val="1079"/>
              <a:buFont typeface="Verdana"/>
              <a:buChar char="➢"/>
            </a:pPr>
            <a:r>
              <a:rPr lang="en-GB" sz="1078"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078"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06" name="Google Shape;406;p49"/>
          <p:cNvSpPr/>
          <p:nvPr/>
        </p:nvSpPr>
        <p:spPr>
          <a:xfrm>
            <a:off x="3461175" y="1383750"/>
            <a:ext cx="4601400" cy="3137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025" lIns="69025" spcFirstLastPara="1" rIns="69025" wrap="square" tIns="6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7"/>
          </a:p>
        </p:txBody>
      </p:sp>
      <p:sp>
        <p:nvSpPr>
          <p:cNvPr id="407" name="Google Shape;407;p49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08" name="Google Shape;408;p49"/>
          <p:cNvSpPr txBox="1"/>
          <p:nvPr/>
        </p:nvSpPr>
        <p:spPr>
          <a:xfrm>
            <a:off x="3614525" y="1589700"/>
            <a:ext cx="4349400" cy="27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Teaching by learning as you go…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Here, 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6149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➢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model </a:t>
            </a:r>
            <a:r>
              <a:rPr lang="en-GB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selectively chooses the most informative, unlabeled data points to be labeled by a human annotator</a:t>
            </a: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(the "oracle") or computer program,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6149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➢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the goal of achieving high accuracy with a smaller amount of labeled data,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6149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➢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thereby saving significant time and cost associated with manual annotation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50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50"/>
          <p:cNvSpPr/>
          <p:nvPr/>
        </p:nvSpPr>
        <p:spPr>
          <a:xfrm>
            <a:off x="312985" y="954450"/>
            <a:ext cx="2730600" cy="1617300"/>
          </a:xfrm>
          <a:prstGeom prst="rect">
            <a:avLst/>
          </a:prstGeom>
          <a:solidFill>
            <a:srgbClr val="CFE2F3"/>
          </a:solidFill>
          <a:ln cap="flat" cmpd="sng" w="79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5875" lIns="75875" spcFirstLastPara="1" rIns="75875" wrap="square" tIns="758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61"/>
          </a:p>
        </p:txBody>
      </p:sp>
      <p:sp>
        <p:nvSpPr>
          <p:cNvPr id="415" name="Google Shape;415;p50"/>
          <p:cNvSpPr txBox="1"/>
          <p:nvPr/>
        </p:nvSpPr>
        <p:spPr>
          <a:xfrm>
            <a:off x="309500" y="1010477"/>
            <a:ext cx="2667900" cy="14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75875" lIns="75875" spcFirstLastPara="1" rIns="75875" wrap="square" tIns="75875">
            <a:spAutoFit/>
          </a:bodyPr>
          <a:lstStyle/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078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SzPts val="1079"/>
              <a:buFont typeface="Verdana"/>
              <a:buChar char="➢"/>
            </a:pPr>
            <a:r>
              <a:rPr lang="en-GB" sz="1078"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078"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58209" lvl="0" marL="379411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079"/>
              <a:buFont typeface="Verdana"/>
              <a:buChar char="➢"/>
            </a:pPr>
            <a:r>
              <a:rPr lang="en-GB" sz="1078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078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6" name="Google Shape;416;p50"/>
          <p:cNvSpPr/>
          <p:nvPr/>
        </p:nvSpPr>
        <p:spPr>
          <a:xfrm>
            <a:off x="215500" y="2724212"/>
            <a:ext cx="3661500" cy="20991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7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9025" lIns="69025" spcFirstLastPara="1" rIns="69025" wrap="square" tIns="690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7"/>
          </a:p>
        </p:txBody>
      </p:sp>
      <p:sp>
        <p:nvSpPr>
          <p:cNvPr id="417" name="Google Shape;417;p50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18" name="Google Shape;418;p50"/>
          <p:cNvSpPr txBox="1"/>
          <p:nvPr/>
        </p:nvSpPr>
        <p:spPr>
          <a:xfrm>
            <a:off x="305831" y="2794637"/>
            <a:ext cx="3490800" cy="20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69025" lIns="69025" spcFirstLastPara="1" rIns="69025" wrap="square" tIns="690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Teaching by learning as you go…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Here,  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244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model </a:t>
            </a:r>
            <a:r>
              <a:rPr lang="en-GB" sz="11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selectively chooses the most informative, unlabeled data points to be labeled by a human annotator</a:t>
            </a: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(the "oracle") or computer program, 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244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with the goal of achieving high accuracy with a smaller amount of labeled data, 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42445" lvl="0" marL="345189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Verdana"/>
              <a:buChar char="➢"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thereby saving significant time and cost associated with manual annotation</a:t>
            </a:r>
            <a:endParaRPr sz="11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19" name="Google Shape;419;p50"/>
          <p:cNvSpPr txBox="1"/>
          <p:nvPr/>
        </p:nvSpPr>
        <p:spPr>
          <a:xfrm>
            <a:off x="3675775" y="954450"/>
            <a:ext cx="3595500" cy="8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How it works:</a:t>
            </a:r>
            <a:endParaRPr b="1"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Initialise with a “seed” set to train an initial model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0" name="Google Shape;420;p50"/>
          <p:cNvSpPr txBox="1"/>
          <p:nvPr/>
        </p:nvSpPr>
        <p:spPr>
          <a:xfrm>
            <a:off x="3997825" y="1824450"/>
            <a:ext cx="3340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Model predicts on the set of unlabelled data and adds an uncertainty score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1" name="Google Shape;421;p50"/>
          <p:cNvSpPr txBox="1"/>
          <p:nvPr/>
        </p:nvSpPr>
        <p:spPr>
          <a:xfrm>
            <a:off x="4257825" y="2499738"/>
            <a:ext cx="34908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A “query” strategy selects the most valuable data points from the pool for review by the human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2" name="Google Shape;422;p50"/>
          <p:cNvSpPr txBox="1"/>
          <p:nvPr/>
        </p:nvSpPr>
        <p:spPr>
          <a:xfrm>
            <a:off x="4503225" y="3300200"/>
            <a:ext cx="3245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Human expert labels the selected data points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23" name="Google Shape;423;p50"/>
          <p:cNvSpPr txBox="1"/>
          <p:nvPr/>
        </p:nvSpPr>
        <p:spPr>
          <a:xfrm>
            <a:off x="4883225" y="3854300"/>
            <a:ext cx="3340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This is added back to the existing training set, and retrained.</a:t>
            </a:r>
            <a:endParaRPr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51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51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430" name="Google Shape;430;p51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1" name="Google Shape;431;p51"/>
          <p:cNvSpPr/>
          <p:nvPr/>
        </p:nvSpPr>
        <p:spPr>
          <a:xfrm>
            <a:off x="309500" y="2862613"/>
            <a:ext cx="4117500" cy="1515900"/>
          </a:xfrm>
          <a:prstGeom prst="roundRect">
            <a:avLst>
              <a:gd fmla="val 16667" name="adj"/>
            </a:avLst>
          </a:prstGeom>
          <a:solidFill>
            <a:srgbClr val="D9D2E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51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33" name="Google Shape;433;p51"/>
          <p:cNvSpPr txBox="1"/>
          <p:nvPr/>
        </p:nvSpPr>
        <p:spPr>
          <a:xfrm>
            <a:off x="389050" y="3146550"/>
            <a:ext cx="374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200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rPr>
              <a:t>Updates the model based on new information. Think of stocks, forex trading models…</a:t>
            </a:r>
            <a:endParaRPr i="1" sz="1200">
              <a:solidFill>
                <a:srgbClr val="FF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2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Avoids retraining!</a:t>
            </a:r>
            <a:endParaRPr b="1"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34" name="Google Shape;434;p51"/>
          <p:cNvSpPr txBox="1"/>
          <p:nvPr/>
        </p:nvSpPr>
        <p:spPr>
          <a:xfrm>
            <a:off x="3675850" y="1234225"/>
            <a:ext cx="4950300" cy="12342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Training models using stream of data chunks.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However not, every model can learn online. Models that use a continuous optimisation produce can use online learning For instance, neural networks</a:t>
            </a:r>
            <a:endParaRPr sz="12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52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52"/>
          <p:cNvSpPr/>
          <p:nvPr/>
        </p:nvSpPr>
        <p:spPr>
          <a:xfrm>
            <a:off x="313197" y="954450"/>
            <a:ext cx="2896200" cy="1715400"/>
          </a:xfrm>
          <a:prstGeom prst="rect">
            <a:avLst/>
          </a:prstGeom>
          <a:solidFill>
            <a:srgbClr val="CFE2F3"/>
          </a:solidFill>
          <a:ln cap="flat" cmpd="sng" w="83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475" lIns="80475" spcFirstLastPara="1" rIns="80475" wrap="square" tIns="804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2"/>
          </a:p>
        </p:txBody>
      </p:sp>
      <p:sp>
        <p:nvSpPr>
          <p:cNvPr id="441" name="Google Shape;441;p52"/>
          <p:cNvSpPr txBox="1"/>
          <p:nvPr/>
        </p:nvSpPr>
        <p:spPr>
          <a:xfrm>
            <a:off x="309500" y="1013885"/>
            <a:ext cx="3384000" cy="15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80475" lIns="80475" spcFirstLastPara="1" rIns="80475" wrap="square" tIns="80475">
            <a:spAutoFit/>
          </a:bodyPr>
          <a:lstStyle/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Unsupervised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Reinforcement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Semi-Supervised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999999"/>
                </a:solidFill>
                <a:latin typeface="Verdana"/>
                <a:ea typeface="Verdana"/>
                <a:cs typeface="Verdana"/>
                <a:sym typeface="Verdana"/>
              </a:rPr>
              <a:t>Deep Learning</a:t>
            </a:r>
            <a:endParaRPr sz="1144">
              <a:solidFill>
                <a:srgbClr val="999999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Active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rgbClr val="B7B7B7"/>
                </a:solidFill>
                <a:latin typeface="Verdana"/>
                <a:ea typeface="Verdana"/>
                <a:cs typeface="Verdana"/>
                <a:sym typeface="Verdana"/>
              </a:rPr>
              <a:t>Online Learning</a:t>
            </a:r>
            <a:endParaRPr sz="1144">
              <a:solidFill>
                <a:srgbClr val="B7B7B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273872" lvl="0" marL="402424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44"/>
              <a:buFont typeface="Verdana"/>
              <a:buChar char="➢"/>
            </a:pPr>
            <a:r>
              <a:rPr lang="en-GB" sz="1144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Transfer Learning</a:t>
            </a:r>
            <a:endParaRPr sz="1144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2" name="Google Shape;442;p52"/>
          <p:cNvSpPr txBox="1"/>
          <p:nvPr/>
        </p:nvSpPr>
        <p:spPr>
          <a:xfrm>
            <a:off x="371525" y="3116575"/>
            <a:ext cx="3000000" cy="15468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Why do we need Transfer Learning?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i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Because the target domain often lacks sufficient training data to train a complex model (like a deep neural network) from scratch.</a:t>
            </a:r>
            <a:endParaRPr i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3" name="Google Shape;443;p52"/>
          <p:cNvSpPr/>
          <p:nvPr/>
        </p:nvSpPr>
        <p:spPr>
          <a:xfrm>
            <a:off x="3796600" y="954450"/>
            <a:ext cx="4869900" cy="536700"/>
          </a:xfrm>
          <a:prstGeom prst="round1Rect">
            <a:avLst>
              <a:gd fmla="val 16667" name="adj"/>
            </a:avLst>
          </a:prstGeom>
          <a:solidFill>
            <a:srgbClr val="FFF2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Involves e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xtracting knowledge from one or more </a:t>
            </a:r>
            <a:r>
              <a:rPr lang="en-GB" sz="12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Source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2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Tasks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and applying it to a different but related </a:t>
            </a:r>
            <a:r>
              <a:rPr lang="en-GB" sz="1200">
                <a:solidFill>
                  <a:srgbClr val="9900FF"/>
                </a:solidFill>
                <a:latin typeface="Verdana"/>
                <a:ea typeface="Verdana"/>
                <a:cs typeface="Verdana"/>
                <a:sym typeface="Verdana"/>
              </a:rPr>
              <a:t>Target Task.</a:t>
            </a:r>
            <a:endParaRPr sz="1200">
              <a:solidFill>
                <a:srgbClr val="9900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44" name="Google Shape;444;p52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45" name="Google Shape;445;p52" title="Artificial Intelligence-18.png"/>
          <p:cNvPicPr preferRelativeResize="0"/>
          <p:nvPr/>
        </p:nvPicPr>
        <p:blipFill rotWithShape="1">
          <a:blip r:embed="rId3">
            <a:alphaModFix/>
          </a:blip>
          <a:srcRect b="0" l="22767" r="20949" t="0"/>
          <a:stretch/>
        </p:blipFill>
        <p:spPr>
          <a:xfrm>
            <a:off x="4529600" y="1576473"/>
            <a:ext cx="3384000" cy="33819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53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51C75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53"/>
          <p:cNvSpPr txBox="1"/>
          <p:nvPr/>
        </p:nvSpPr>
        <p:spPr>
          <a:xfrm>
            <a:off x="658300" y="1051350"/>
            <a:ext cx="5419800" cy="1376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Multi-Task Learning (MTL)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➢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Training </a:t>
            </a:r>
            <a:r>
              <a:rPr i="1" lang="en-GB" sz="12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a single model to solve multiple distinct tasks simultaneously</a:t>
            </a:r>
            <a:r>
              <a:rPr lang="en-GB" sz="12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using shared data representations.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➢"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Advantage: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Exploits commonalities across tasks, acting as a regularizer to prevent overfitting on any single task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2" name="Google Shape;452;p53"/>
          <p:cNvSpPr txBox="1"/>
          <p:nvPr/>
        </p:nvSpPr>
        <p:spPr>
          <a:xfrm>
            <a:off x="2634300" y="2817238"/>
            <a:ext cx="5419800" cy="1644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Few-Shot &amp; One-Shot Learning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➢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Utilizing a large training set to</a:t>
            </a:r>
            <a:r>
              <a:rPr i="1" lang="en-GB" sz="1200">
                <a:solidFill>
                  <a:srgbClr val="BF9000"/>
                </a:solidFill>
                <a:latin typeface="Verdana"/>
                <a:ea typeface="Verdana"/>
                <a:cs typeface="Verdana"/>
                <a:sym typeface="Verdana"/>
              </a:rPr>
              <a:t> learn a similarity function,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which is then </a:t>
            </a:r>
            <a:r>
              <a:rPr i="1" lang="en-GB" sz="1200">
                <a:solidFill>
                  <a:srgbClr val="BF9000"/>
                </a:solidFill>
                <a:latin typeface="Verdana"/>
                <a:ea typeface="Verdana"/>
                <a:cs typeface="Verdana"/>
                <a:sym typeface="Verdana"/>
              </a:rPr>
              <a:t>used to classify entirely new, unknown classes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using only 1 (One-Shot) or a few (Few-Shot) examples.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Char char="➢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Facial recognition systems, where you provide one photo to your phone, and it learns to recognize you (forever?)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3" name="Google Shape;453;p53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Machine learning paradigms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54"/>
          <p:cNvSpPr txBox="1"/>
          <p:nvPr/>
        </p:nvSpPr>
        <p:spPr>
          <a:xfrm>
            <a:off x="279000" y="1154550"/>
            <a:ext cx="4424400" cy="210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Computer Vision</a:t>
            </a:r>
            <a:endParaRPr b="1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Char char="➢"/>
            </a:pPr>
            <a:r>
              <a:rPr b="1" lang="en-GB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Tasks:</a:t>
            </a:r>
            <a:r>
              <a:rPr lang="en-GB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Object detection, 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Semantic segmentation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Image generation.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Object tracking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Boundary Mapping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Pose Estimation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59" name="Google Shape;459;p54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Industry Applications Today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0" name="Google Shape;460;p54"/>
          <p:cNvSpPr txBox="1"/>
          <p:nvPr/>
        </p:nvSpPr>
        <p:spPr>
          <a:xfrm>
            <a:off x="4364000" y="1154550"/>
            <a:ext cx="4384200" cy="794100"/>
          </a:xfrm>
          <a:prstGeom prst="rect">
            <a:avLst/>
          </a:prstGeom>
          <a:solidFill>
            <a:srgbClr val="B6D7A8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Based on Convolutional</a:t>
            </a: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 Neural Networks (CNNs) which handles spatial pixel structures by sharing weights via filters.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1" name="Google Shape;461;p54"/>
          <p:cNvSpPr txBox="1"/>
          <p:nvPr/>
        </p:nvSpPr>
        <p:spPr>
          <a:xfrm>
            <a:off x="279000" y="3401925"/>
            <a:ext cx="60129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6AA84F"/>
                </a:solidFill>
                <a:latin typeface="Verdana"/>
                <a:ea typeface="Verdana"/>
                <a:cs typeface="Verdana"/>
                <a:sym typeface="Verdana"/>
              </a:rPr>
              <a:t>Used in:</a:t>
            </a:r>
            <a:endParaRPr b="1" sz="1200">
              <a:solidFill>
                <a:srgbClr val="6AA84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Autonomous driving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Facial recognition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Automated medical scan analysis (e.g., detecting tumors)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Counting objects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2" name="Google Shape;462;p54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85200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55"/>
          <p:cNvSpPr txBox="1"/>
          <p:nvPr/>
        </p:nvSpPr>
        <p:spPr>
          <a:xfrm>
            <a:off x="279000" y="1029075"/>
            <a:ext cx="4577400" cy="27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51C75"/>
                </a:solidFill>
                <a:latin typeface="Verdana"/>
                <a:ea typeface="Verdana"/>
                <a:cs typeface="Verdana"/>
                <a:sym typeface="Verdana"/>
              </a:rPr>
              <a:t>Natural Language Processing (NLP)</a:t>
            </a:r>
            <a:endParaRPr b="1">
              <a:solidFill>
                <a:srgbClr val="351C75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74EA7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Tasks: </a:t>
            </a:r>
            <a:endParaRPr b="1" sz="1200">
              <a:solidFill>
                <a:srgbClr val="674EA7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Machine translation,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Sentiment analysis,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Speech-to-text,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Question answering.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Text-to-speech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Translation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Voice Cloning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Reasoning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Text generation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8" name="Google Shape;468;p55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Industry Applications Today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9" name="Google Shape;469;p55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55"/>
          <p:cNvSpPr txBox="1"/>
          <p:nvPr/>
        </p:nvSpPr>
        <p:spPr>
          <a:xfrm>
            <a:off x="4572000" y="1471675"/>
            <a:ext cx="3434400" cy="18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b="1" lang="en-GB" sz="1200">
                <a:solidFill>
                  <a:srgbClr val="674EA7"/>
                </a:solidFill>
                <a:latin typeface="Verdana"/>
                <a:ea typeface="Verdana"/>
                <a:cs typeface="Verdana"/>
                <a:sym typeface="Verdana"/>
              </a:rPr>
              <a:t>Techniques</a:t>
            </a: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Word embeddings (Word2Vec)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N-gram models, 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Recurrent Neural Networks,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Transformers (LLMs like BERT/GPT).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LLMs, VLLMs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1" name="Google Shape;471;p55"/>
          <p:cNvSpPr txBox="1"/>
          <p:nvPr/>
        </p:nvSpPr>
        <p:spPr>
          <a:xfrm>
            <a:off x="576850" y="4038075"/>
            <a:ext cx="6667500" cy="697200"/>
          </a:xfrm>
          <a:prstGeom prst="rect">
            <a:avLst/>
          </a:prstGeom>
          <a:solidFill>
            <a:srgbClr val="D9D2E9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Used in</a:t>
            </a:r>
            <a:endParaRPr b="1"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Clr>
                <a:srgbClr val="303030"/>
              </a:buClr>
              <a:buSzPts val="1200"/>
              <a:buFont typeface="Verdana"/>
              <a:buChar char="➢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Chatbots, automated document summarization, virtual assistants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56"/>
          <p:cNvSpPr txBox="1"/>
          <p:nvPr/>
        </p:nvSpPr>
        <p:spPr>
          <a:xfrm>
            <a:off x="279000" y="1073250"/>
            <a:ext cx="6777600" cy="11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1155CC"/>
                </a:solidFill>
                <a:latin typeface="Verdana"/>
                <a:ea typeface="Verdana"/>
                <a:cs typeface="Verdana"/>
                <a:sym typeface="Verdana"/>
              </a:rPr>
              <a:t>Recommender Systems</a:t>
            </a:r>
            <a:endParaRPr b="1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155C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Char char="➢"/>
            </a:pPr>
            <a:r>
              <a:rPr b="1" lang="en-GB" sz="1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Main Idea</a:t>
            </a:r>
            <a:r>
              <a:rPr b="1" lang="en-GB" sz="1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 b="1" sz="12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900"/>
              </a:spcBef>
              <a:spcAft>
                <a:spcPts val="900"/>
              </a:spcAft>
              <a:buNone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To estimate user affinity for products to drive engagement and sales.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7" name="Google Shape;477;p56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E6B8AF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Industry Applications Today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8" name="Google Shape;478;p56"/>
          <p:cNvSpPr txBox="1"/>
          <p:nvPr/>
        </p:nvSpPr>
        <p:spPr>
          <a:xfrm>
            <a:off x="480225" y="2542225"/>
            <a:ext cx="3611400" cy="7941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900"/>
              </a:spcAft>
              <a:buNone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Matrix Factorization (factoring a massive User × Item matrix to predict missing preferences).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9" name="Google Shape;479;p56"/>
          <p:cNvSpPr txBox="1"/>
          <p:nvPr/>
        </p:nvSpPr>
        <p:spPr>
          <a:xfrm>
            <a:off x="5095325" y="2436025"/>
            <a:ext cx="3611400" cy="10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C78D8"/>
              </a:buClr>
              <a:buSzPts val="1200"/>
              <a:buChar char="➢"/>
            </a:pPr>
            <a:r>
              <a:rPr b="1" lang="en-GB" sz="1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Used Today by</a:t>
            </a:r>
            <a:r>
              <a:rPr b="1" lang="en-GB" sz="1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:</a:t>
            </a:r>
            <a:r>
              <a:rPr lang="en-GB" sz="1200">
                <a:solidFill>
                  <a:srgbClr val="3C78D8"/>
                </a:solidFill>
                <a:latin typeface="Verdana"/>
                <a:ea typeface="Verdana"/>
                <a:cs typeface="Verdana"/>
                <a:sym typeface="Verdana"/>
              </a:rPr>
              <a:t> </a:t>
            </a:r>
            <a:endParaRPr sz="1200">
              <a:solidFill>
                <a:srgbClr val="3C78D8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Netflix movie recommendations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Amazon product suggestions 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rgbClr val="303030"/>
                </a:solidFill>
                <a:latin typeface="Verdana"/>
                <a:ea typeface="Verdana"/>
                <a:cs typeface="Verdana"/>
                <a:sym typeface="Verdana"/>
              </a:rPr>
              <a:t>Spotify playlists</a:t>
            </a:r>
            <a:endParaRPr sz="1200">
              <a:solidFill>
                <a:srgbClr val="30303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0" name="Google Shape;480;p56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99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57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Most ML Projects Fail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6" name="Google Shape;486;p57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57"/>
          <p:cNvSpPr txBox="1"/>
          <p:nvPr/>
        </p:nvSpPr>
        <p:spPr>
          <a:xfrm>
            <a:off x="2398650" y="1583025"/>
            <a:ext cx="43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Misaligned Business Objectives 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8" name="Google Shape;488;p57"/>
          <p:cNvSpPr txBox="1"/>
          <p:nvPr/>
        </p:nvSpPr>
        <p:spPr>
          <a:xfrm>
            <a:off x="1338900" y="2159900"/>
            <a:ext cx="6466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N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ot defining what success looks like or misaligning on KPIs, such as focusing on model accuracy over operational impact.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58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Most ML Projects Fail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4" name="Google Shape;494;p58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58"/>
          <p:cNvSpPr txBox="1"/>
          <p:nvPr/>
        </p:nvSpPr>
        <p:spPr>
          <a:xfrm>
            <a:off x="279000" y="965900"/>
            <a:ext cx="43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Misaligned Business Objectives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6" name="Google Shape;496;p58"/>
          <p:cNvSpPr txBox="1"/>
          <p:nvPr/>
        </p:nvSpPr>
        <p:spPr>
          <a:xfrm>
            <a:off x="2361000" y="1570325"/>
            <a:ext cx="442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Organizational and Cultural Misalignment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97" name="Google Shape;497;p58"/>
          <p:cNvSpPr txBox="1"/>
          <p:nvPr/>
        </p:nvSpPr>
        <p:spPr>
          <a:xfrm>
            <a:off x="1831200" y="2263950"/>
            <a:ext cx="5481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A disconnect often exists between data scientists and business stakeholders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59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Most ML Projects Fail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3" name="Google Shape;503;p59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59"/>
          <p:cNvSpPr txBox="1"/>
          <p:nvPr/>
        </p:nvSpPr>
        <p:spPr>
          <a:xfrm>
            <a:off x="279000" y="965900"/>
            <a:ext cx="43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Misaligned Business Objectives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5" name="Google Shape;505;p59"/>
          <p:cNvSpPr txBox="1"/>
          <p:nvPr/>
        </p:nvSpPr>
        <p:spPr>
          <a:xfrm>
            <a:off x="469425" y="1453925"/>
            <a:ext cx="442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Organizational and Cultural Misalignment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6" name="Google Shape;506;p59"/>
          <p:cNvSpPr txBox="1"/>
          <p:nvPr/>
        </p:nvSpPr>
        <p:spPr>
          <a:xfrm>
            <a:off x="3072000" y="20391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Unrealistic Expectations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07" name="Google Shape;507;p59"/>
          <p:cNvSpPr txBox="1"/>
          <p:nvPr/>
        </p:nvSpPr>
        <p:spPr>
          <a:xfrm>
            <a:off x="1486500" y="2624413"/>
            <a:ext cx="6171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Overpromising on the capabilities of AI; leads to disappointment when models cannot deliver immediate, perfect results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60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Part I: Foundations and Classical Supervised Learning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Why Most ML Projects Fail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13" name="Google Shape;513;p60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60"/>
          <p:cNvSpPr txBox="1"/>
          <p:nvPr/>
        </p:nvSpPr>
        <p:spPr>
          <a:xfrm>
            <a:off x="279000" y="965900"/>
            <a:ext cx="43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Misaligned Business Objectives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5" name="Google Shape;515;p60"/>
          <p:cNvSpPr txBox="1"/>
          <p:nvPr/>
        </p:nvSpPr>
        <p:spPr>
          <a:xfrm>
            <a:off x="469425" y="1453925"/>
            <a:ext cx="442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Organizational and Cultural Misalignment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6" name="Google Shape;516;p60"/>
          <p:cNvSpPr txBox="1"/>
          <p:nvPr/>
        </p:nvSpPr>
        <p:spPr>
          <a:xfrm>
            <a:off x="807325" y="2007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Unrealistic Expectations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7" name="Google Shape;517;p60"/>
          <p:cNvSpPr txBox="1"/>
          <p:nvPr/>
        </p:nvSpPr>
        <p:spPr>
          <a:xfrm>
            <a:off x="2311350" y="2561375"/>
            <a:ext cx="45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High Costs and Underestimated Resources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18" name="Google Shape;518;p60"/>
          <p:cNvSpPr txBox="1"/>
          <p:nvPr/>
        </p:nvSpPr>
        <p:spPr>
          <a:xfrm>
            <a:off x="1352250" y="3107613"/>
            <a:ext cx="6439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When costs (data, infrastructure, labor) outweigh the projected ROI, projects are often terminated.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61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Why Most ML Projects Fail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4" name="Google Shape;524;p61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0B539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61"/>
          <p:cNvSpPr txBox="1"/>
          <p:nvPr/>
        </p:nvSpPr>
        <p:spPr>
          <a:xfrm>
            <a:off x="279000" y="965900"/>
            <a:ext cx="4346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Misaligned Business Objectives 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6" name="Google Shape;526;p61"/>
          <p:cNvSpPr txBox="1"/>
          <p:nvPr/>
        </p:nvSpPr>
        <p:spPr>
          <a:xfrm>
            <a:off x="469425" y="1453925"/>
            <a:ext cx="442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Organizational and Cultural Misalignment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7" name="Google Shape;527;p61"/>
          <p:cNvSpPr txBox="1"/>
          <p:nvPr/>
        </p:nvSpPr>
        <p:spPr>
          <a:xfrm>
            <a:off x="807325" y="20076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Unrealistic Expectations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8" name="Google Shape;528;p61"/>
          <p:cNvSpPr txBox="1"/>
          <p:nvPr/>
        </p:nvSpPr>
        <p:spPr>
          <a:xfrm>
            <a:off x="1184450" y="2557638"/>
            <a:ext cx="4521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High Costs and Underestimated Resources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29" name="Google Shape;529;p61"/>
          <p:cNvSpPr txBox="1"/>
          <p:nvPr/>
        </p:nvSpPr>
        <p:spPr>
          <a:xfrm>
            <a:off x="1352250" y="3107613"/>
            <a:ext cx="6439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Lab vs Real World!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0" name="Google Shape;530;p61"/>
          <p:cNvSpPr txBox="1"/>
          <p:nvPr/>
        </p:nvSpPr>
        <p:spPr>
          <a:xfrm>
            <a:off x="1298550" y="3657600"/>
            <a:ext cx="65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Many models work well in a lab environment but fail to </a:t>
            </a: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woefully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 in production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62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Overview of the Course Project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6" name="Google Shape;536;p62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62"/>
          <p:cNvSpPr txBox="1"/>
          <p:nvPr/>
        </p:nvSpPr>
        <p:spPr>
          <a:xfrm>
            <a:off x="279000" y="979325"/>
            <a:ext cx="4175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Project Overview &amp; Objective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➢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F</a:t>
            </a:r>
            <a:r>
              <a:rPr lang="en-GB">
                <a:latin typeface="Verdana"/>
                <a:ea typeface="Verdana"/>
                <a:cs typeface="Verdana"/>
                <a:sym typeface="Verdana"/>
              </a:rPr>
              <a:t>rame a vague or complex real-world challenge as a formal machine learning task, build a reproducible ML pipeline, and rigorously evaluate your solution while acknowledging ethical and practical limitations.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38" name="Google Shape;538;p62"/>
          <p:cNvSpPr txBox="1"/>
          <p:nvPr/>
        </p:nvSpPr>
        <p:spPr>
          <a:xfrm>
            <a:off x="5379625" y="1194875"/>
            <a:ext cx="3000000" cy="1262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The problem of choice should relate to a personal experience, a challenge within your local community, or an environmental issue.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63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Overview of the Course Project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4" name="Google Shape;544;p63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BF9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5" name="Google Shape;545;p63"/>
          <p:cNvSpPr txBox="1"/>
          <p:nvPr/>
        </p:nvSpPr>
        <p:spPr>
          <a:xfrm>
            <a:off x="279000" y="979325"/>
            <a:ext cx="41751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Project Overview &amp; Objective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➢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Frame a vague or complex real-world challenge as a formal machine learning task, build a reproducible ML pipeline, and rigorously evaluate your solution while acknowledging ethical and practical limitations.</a:t>
            </a:r>
            <a:endParaRPr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6" name="Google Shape;546;p63"/>
          <p:cNvSpPr txBox="1"/>
          <p:nvPr/>
        </p:nvSpPr>
        <p:spPr>
          <a:xfrm>
            <a:off x="5379625" y="1194875"/>
            <a:ext cx="3000000" cy="28782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Scope</a:t>
            </a: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: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Your project must integrate multiple facets of practical machine learning, including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data preprocessing,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baseline establishment,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algorithm implementation,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regularization,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model selection, 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-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error analysis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47" name="Google Shape;547;p63"/>
          <p:cNvSpPr txBox="1"/>
          <p:nvPr/>
        </p:nvSpPr>
        <p:spPr>
          <a:xfrm>
            <a:off x="375625" y="3320975"/>
            <a:ext cx="3000000" cy="8958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Verdana"/>
                <a:ea typeface="Verdana"/>
                <a:cs typeface="Verdana"/>
                <a:sym typeface="Verdana"/>
              </a:rPr>
              <a:t>Team Size: </a:t>
            </a:r>
            <a:endParaRPr b="1"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Verdana"/>
              <a:buChar char="➢"/>
            </a:pPr>
            <a:r>
              <a:rPr lang="en-GB">
                <a:latin typeface="Verdana"/>
                <a:ea typeface="Verdana"/>
                <a:cs typeface="Verdana"/>
                <a:sym typeface="Verdana"/>
              </a:rPr>
              <a:t>You will work in small groups of 5 students.</a:t>
            </a:r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64"/>
          <p:cNvSpPr txBox="1"/>
          <p:nvPr/>
        </p:nvSpPr>
        <p:spPr>
          <a:xfrm>
            <a:off x="279000" y="1148050"/>
            <a:ext cx="30000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Setup coding Environment </a:t>
            </a:r>
            <a:endParaRPr b="1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➢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Google Colab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Char char="➢"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Anaconda environments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3" name="Google Shape;553;p64"/>
          <p:cNvSpPr txBox="1"/>
          <p:nvPr/>
        </p:nvSpPr>
        <p:spPr>
          <a:xfrm>
            <a:off x="279000" y="140975"/>
            <a:ext cx="8586000" cy="6207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Part I: Foundations and Classical Supervised Learning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just">
              <a:spcBef>
                <a:spcPts val="4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Lab</a:t>
            </a:r>
            <a:endParaRPr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4" name="Google Shape;554;p64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5"/>
          <p:cNvSpPr txBox="1"/>
          <p:nvPr/>
        </p:nvSpPr>
        <p:spPr>
          <a:xfrm>
            <a:off x="1893300" y="1851350"/>
            <a:ext cx="535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Thank you.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38761D"/>
                </a:solidFill>
                <a:latin typeface="Verdana"/>
                <a:ea typeface="Verdana"/>
                <a:cs typeface="Verdana"/>
                <a:sym typeface="Verdana"/>
              </a:rPr>
              <a:t>Questions?</a:t>
            </a:r>
            <a:endParaRPr sz="1800">
              <a:solidFill>
                <a:srgbClr val="38761D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0" name="Google Shape;560;p65"/>
          <p:cNvSpPr/>
          <p:nvPr/>
        </p:nvSpPr>
        <p:spPr>
          <a:xfrm>
            <a:off x="0" y="4976700"/>
            <a:ext cx="9144000" cy="166800"/>
          </a:xfrm>
          <a:prstGeom prst="rect">
            <a:avLst/>
          </a:prstGeom>
          <a:solidFill>
            <a:srgbClr val="38761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38761D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